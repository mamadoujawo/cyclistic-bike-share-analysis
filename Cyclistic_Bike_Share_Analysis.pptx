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7AD9E7-825A-FF43-999A-9BD81BEBD56B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EC9628-15BD-EC42-ADD1-EBB0BF645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278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EC9628-15BD-EC42-ADD1-EBB0BF6451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20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02A81-4F72-157F-ACD0-CED51AAEF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80CA92-729F-9517-6BDD-ECDB522BA0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90297-F3F1-62C2-58D4-731F62E9A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C8FE-D84E-BF4D-8AE1-2270CC1AA363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E1B0C-0C9F-BE88-4E2A-FEE6FADF5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98ABE-BD62-7D11-0D9D-829444D81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AF1D-228B-284D-8C54-DF7CEBB0E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230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160CA-A628-0F60-E5AF-B7B3A587E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01388-4C05-188D-7471-6770C4D7A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708B5-B86F-AF61-47EE-F4CA55954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C8FE-D84E-BF4D-8AE1-2270CC1AA363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652F5-BB1C-C723-E08B-63BDE95F7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E6C3A-71E7-046B-6AB2-2605691F5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AF1D-228B-284D-8C54-DF7CEBB0E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648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F0D25-2E0F-6E17-858A-D6EA34E12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DD539-B099-355E-DEF6-77D699623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AD97C-3726-EEF7-9D2A-D3699DD86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C8FE-D84E-BF4D-8AE1-2270CC1AA363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E70C1-CD05-9DB4-767E-6A99AA3D3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D2310-C6F4-389F-B4C5-848070D94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AF1D-228B-284D-8C54-DF7CEBB0E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38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D2271-2E74-7748-ED54-C83DC9714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16914-6210-5E55-46C4-7C8A6864B1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5283E-B168-E208-D77F-1568130CD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B9B39-0D95-F1F0-3B3A-D01125989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C8FE-D84E-BF4D-8AE1-2270CC1AA363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497A48-0C9A-BFE5-C502-D999BBE7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C5043-18D5-009E-BC6A-DCF4632FB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AF1D-228B-284D-8C54-DF7CEBB0E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60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E5FBF-A0B5-A1B6-F4A0-80263654E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C8161-C44A-F24E-0917-0E661D6B4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AD8787-F3E9-9DBB-03BD-F768960A7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EA10F9-0BF1-D64F-0BD2-B9B690D5E3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49D1B6-98B5-DA16-C904-92A02E0263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C31592-EC73-4FA6-25A4-A3690B558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C8FE-D84E-BF4D-8AE1-2270CC1AA363}" type="datetimeFigureOut">
              <a:rPr lang="en-US" smtClean="0"/>
              <a:t>9/1/26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F3F206-09C4-D6AD-8189-34F2A0F1B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52CDF3-DB16-A8A7-B65A-DD9382D8D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AF1D-228B-284D-8C54-DF7CEBB0E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2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1F282-8A9E-B1EA-4614-9C119E888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6B3C0A-4390-53B3-DD1D-07E788F0D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C8FE-D84E-BF4D-8AE1-2270CC1AA363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FBFE3-6260-4E69-0F1A-9972CBCCD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0502BB-A686-27FA-03A0-EA800EC3E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AF1D-228B-284D-8C54-DF7CEBB0E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693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DB9758-2439-3A27-40ED-CF6754D90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C8FE-D84E-BF4D-8AE1-2270CC1AA363}" type="datetimeFigureOut">
              <a:rPr lang="en-US" smtClean="0"/>
              <a:t>9/1/26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828983-91D4-1757-1177-FE2C5809F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06C7C-79C3-E5C4-6D2B-E223B8B91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AF1D-228B-284D-8C54-DF7CEBB0E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286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A1A9C-3D90-7EFD-13B4-B41258D18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CB852-3922-8654-A3A7-F07826627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20AFA-25DE-B86E-9367-DA641C40B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40CF0A-A204-7C52-EF6A-8260DA1C0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C8FE-D84E-BF4D-8AE1-2270CC1AA363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143C59-7EEF-1A79-7333-31691DC4F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8F77A-F802-FE08-3559-62C5E378E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AF1D-228B-284D-8C54-DF7CEBB0E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61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AE0CF-5063-2655-574A-ABD9D940C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CA1882-C59C-4D3A-04B1-9B2D339C48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EC1A8-4B89-8C31-B6F5-A39204B524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4F6C4-7A11-B259-7092-8A125B3F2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C8FE-D84E-BF4D-8AE1-2270CC1AA363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651946-12CF-C1EA-B6F7-CDF44E072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05709-5EAC-38C2-3A18-2FDF73A3B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AF1D-228B-284D-8C54-DF7CEBB0E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87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A721-CD9D-B79C-0667-283AE57F4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0D3D2C-C0B9-74EE-651D-A32F65A0D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EC11D-131A-4914-58C6-1F3A7F894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C8FE-D84E-BF4D-8AE1-2270CC1AA363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7ACF3-81FB-BD9D-9228-F22790B57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65F73-352E-300C-6590-9C644A78F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AF1D-228B-284D-8C54-DF7CEBB0E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159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DAC1EF-9942-5159-D29E-AEF8BC1AF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CB02BD-442C-701B-CB6E-3ABAE0A881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33912-2F13-366F-1B71-AB71C1C76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C8FE-D84E-BF4D-8AE1-2270CC1AA363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9051E-F39D-0A41-A418-6DF3F9F62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69C85-81A0-7E25-7107-BC8ED5F2D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AF1D-228B-284D-8C54-DF7CEBB0E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067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7A8827-6CE5-7224-A43E-FBCE67E13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93891-EB62-DDCD-30B1-E38BD040A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33491-D492-700C-A5CF-900B49D9B4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CAC8FE-D84E-BF4D-8AE1-2270CC1AA363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6199D-8A99-D5A5-4645-3AC3459654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85A1A-71D3-CFE1-C53E-CD8F74C764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D3AF1D-228B-284D-8C54-DF7CEBB0E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832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7BDB6-3FCB-A224-2C65-4EF0EB3A29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Cyclistic Bike-Share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1191E2-5A15-C539-0A79-59BE534FDF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How Casual Riders and Annual Members Use Cyclistic Bikes Differently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4E8A7B-1502-637C-FCD2-4D56A03692E4}"/>
              </a:ext>
            </a:extLst>
          </p:cNvPr>
          <p:cNvSpPr txBox="1"/>
          <p:nvPr/>
        </p:nvSpPr>
        <p:spPr>
          <a:xfrm>
            <a:off x="1658680" y="5366305"/>
            <a:ext cx="7644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NAME: </a:t>
            </a:r>
            <a:r>
              <a:rPr lang="en-US" dirty="0"/>
              <a:t>Mamadou Jawo | Google Data Analytics Capstone</a:t>
            </a:r>
          </a:p>
          <a:p>
            <a:r>
              <a:rPr lang="en-US" b="1" dirty="0"/>
              <a:t>DATE</a:t>
            </a:r>
            <a:r>
              <a:rPr lang="en-US" dirty="0"/>
              <a:t>: 09/01/2026</a:t>
            </a:r>
          </a:p>
        </p:txBody>
      </p:sp>
    </p:spTree>
    <p:extLst>
      <p:ext uri="{BB962C8B-B14F-4D97-AF65-F5344CB8AC3E}">
        <p14:creationId xmlns:p14="http://schemas.microsoft.com/office/powerpoint/2010/main" val="3085500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3117A-1B3A-7BE7-6E72-664F6C964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6C4A2-BA98-EA79-AA63-A0BE2E0B0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 how casual riders and annual members use Cyclistic bikes differently and identify insights that can help convert casual riders into annual members.</a:t>
            </a:r>
          </a:p>
        </p:txBody>
      </p:sp>
    </p:spTree>
    <p:extLst>
      <p:ext uri="{BB962C8B-B14F-4D97-AF65-F5344CB8AC3E}">
        <p14:creationId xmlns:p14="http://schemas.microsoft.com/office/powerpoint/2010/main" val="2740022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115C7-60C7-FD8E-CA0E-66451C959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80FCC-6B30-C50D-FF8B-8F11F89B0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Data:</a:t>
            </a:r>
            <a:r>
              <a:rPr lang="en-US" dirty="0"/>
              <a:t> 12 months of Divvy bike-share trip data (April 2020–March 2021).</a:t>
            </a:r>
          </a:p>
          <a:p>
            <a:r>
              <a:rPr lang="en-US" b="1" dirty="0"/>
              <a:t>Preparation:</a:t>
            </a:r>
            <a:r>
              <a:rPr lang="en-US" dirty="0"/>
              <a:t> Combined 12 months CSV files using Excel Power Query.</a:t>
            </a:r>
          </a:p>
          <a:p>
            <a:r>
              <a:rPr lang="en-US" b="1" dirty="0"/>
              <a:t>Cleaning:</a:t>
            </a:r>
            <a:r>
              <a:rPr lang="en-US" dirty="0"/>
              <a:t> Checked data types and consistency, created ride-length/date-time fields, and removed rides with invalid durations (≤ 0). </a:t>
            </a:r>
          </a:p>
          <a:p>
            <a:r>
              <a:rPr lang="en-US" b="1" dirty="0"/>
              <a:t>Analysis:</a:t>
            </a:r>
            <a:r>
              <a:rPr lang="en-US" dirty="0"/>
              <a:t> Analyzed the cleaned dataset of </a:t>
            </a:r>
            <a:r>
              <a:rPr lang="en-US" b="1" dirty="0"/>
              <a:t>3,478,810 rides</a:t>
            </a:r>
            <a:r>
              <a:rPr lang="en-US" dirty="0"/>
              <a:t> using Excel summaries and PivotTables, then used Tableau for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1529901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06441-22D3-AB83-25F4-33EDF6B86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0660"/>
          </a:xfrm>
        </p:spPr>
        <p:txBody>
          <a:bodyPr>
            <a:normAutofit/>
          </a:bodyPr>
          <a:lstStyle/>
          <a:p>
            <a:r>
              <a:rPr lang="en-US" dirty="0"/>
              <a:t>Total Rides by Rider Type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21D4E6-82EA-16C6-3515-56C974FE5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57" y="2001794"/>
            <a:ext cx="6052722" cy="42507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80B703-7099-E25A-AD74-C49790D11AFD}"/>
              </a:ext>
            </a:extLst>
          </p:cNvPr>
          <p:cNvSpPr txBox="1"/>
          <p:nvPr/>
        </p:nvSpPr>
        <p:spPr>
          <a:xfrm>
            <a:off x="7292209" y="2001794"/>
            <a:ext cx="4774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Members completed </a:t>
            </a:r>
            <a:r>
              <a:rPr lang="en-US" b="1" dirty="0"/>
              <a:t>2,051,851 rides</a:t>
            </a:r>
            <a:r>
              <a:rPr lang="en-US" dirty="0"/>
              <a:t>, compared with </a:t>
            </a:r>
            <a:r>
              <a:rPr lang="en-US" b="1" dirty="0"/>
              <a:t>1,426,959 casual rides.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about </a:t>
            </a:r>
            <a:r>
              <a:rPr lang="en-US" b="1" dirty="0"/>
              <a:t>44% more rides</a:t>
            </a:r>
            <a:r>
              <a:rPr lang="en-US" dirty="0"/>
              <a:t> by members.</a:t>
            </a:r>
          </a:p>
        </p:txBody>
      </p:sp>
    </p:spTree>
    <p:extLst>
      <p:ext uri="{BB962C8B-B14F-4D97-AF65-F5344CB8AC3E}">
        <p14:creationId xmlns:p14="http://schemas.microsoft.com/office/powerpoint/2010/main" val="1972001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62619-840D-5BD5-4921-6AF7AC272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6987"/>
          </a:xfrm>
        </p:spPr>
        <p:txBody>
          <a:bodyPr/>
          <a:lstStyle/>
          <a:p>
            <a:r>
              <a:rPr lang="en-US" dirty="0"/>
              <a:t>Average Ride Length by Rider Type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86A683-A1B7-3921-6D6F-7F7A4D0F2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17589"/>
            <a:ext cx="6452763" cy="45316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BA4F3B-2EE1-015E-30AA-D95A2F1347BB}"/>
              </a:ext>
            </a:extLst>
          </p:cNvPr>
          <p:cNvSpPr txBox="1"/>
          <p:nvPr/>
        </p:nvSpPr>
        <p:spPr>
          <a:xfrm>
            <a:off x="7846541" y="1507524"/>
            <a:ext cx="39170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Casual riders averaged 45.0 minutes per ride, compared with 16.1 minutes for members.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Casual rides were nearly 3× longer on average.</a:t>
            </a:r>
          </a:p>
        </p:txBody>
      </p:sp>
    </p:spTree>
    <p:extLst>
      <p:ext uri="{BB962C8B-B14F-4D97-AF65-F5344CB8AC3E}">
        <p14:creationId xmlns:p14="http://schemas.microsoft.com/office/powerpoint/2010/main" val="1457763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DB577-5770-BC58-57BA-CD8849BCC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5089"/>
          </a:xfrm>
        </p:spPr>
        <p:txBody>
          <a:bodyPr/>
          <a:lstStyle/>
          <a:p>
            <a:r>
              <a:rPr lang="en-US" dirty="0"/>
              <a:t>Rides by Day of Week and Rider Type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2E1AEC-3D93-5AAF-B063-068CA6830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1076"/>
            <a:ext cx="6892170" cy="44220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857E28-EF77-FAB8-6788-011D2AC59EBE}"/>
              </a:ext>
            </a:extLst>
          </p:cNvPr>
          <p:cNvSpPr txBox="1"/>
          <p:nvPr/>
        </p:nvSpPr>
        <p:spPr>
          <a:xfrm>
            <a:off x="8185346" y="1781076"/>
            <a:ext cx="38182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Members take substantially more rides than casual riders from </a:t>
            </a:r>
            <a:r>
              <a:rPr lang="en-US" b="1" dirty="0"/>
              <a:t>Monday through Friday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Saturday is the only day casual riders exceed members, with </a:t>
            </a:r>
            <a:r>
              <a:rPr lang="en-US" b="1" dirty="0"/>
              <a:t>335,034 </a:t>
            </a:r>
            <a:r>
              <a:rPr lang="en-US" dirty="0"/>
              <a:t>casual rides vs. </a:t>
            </a:r>
            <a:r>
              <a:rPr lang="en-US" b="1" dirty="0"/>
              <a:t>323,076 </a:t>
            </a:r>
            <a:r>
              <a:rPr lang="en-US" dirty="0"/>
              <a:t>member rides.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Casual rides are strongly concentrated on the weekend.</a:t>
            </a:r>
          </a:p>
        </p:txBody>
      </p:sp>
    </p:spTree>
    <p:extLst>
      <p:ext uri="{BB962C8B-B14F-4D97-AF65-F5344CB8AC3E}">
        <p14:creationId xmlns:p14="http://schemas.microsoft.com/office/powerpoint/2010/main" val="95878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2D4C0-E83E-97A1-FADC-2D1F5E4EB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9517"/>
          </a:xfrm>
        </p:spPr>
        <p:txBody>
          <a:bodyPr/>
          <a:lstStyle/>
          <a:p>
            <a:r>
              <a:rPr lang="en-US" dirty="0"/>
              <a:t>Monthly Rides by Rider 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151F42-5783-31B9-CE0E-AAF0DA63F4D1}"/>
              </a:ext>
            </a:extLst>
          </p:cNvPr>
          <p:cNvSpPr txBox="1"/>
          <p:nvPr/>
        </p:nvSpPr>
        <p:spPr>
          <a:xfrm>
            <a:off x="8291384" y="1608529"/>
            <a:ext cx="370214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rider types show strong </a:t>
            </a:r>
            <a:r>
              <a:rPr lang="en-US" b="1" dirty="0"/>
              <a:t>seasonal patterns</a:t>
            </a:r>
            <a:r>
              <a:rPr lang="en-US" dirty="0"/>
              <a:t>, with rides increasing through spring and summer and declining during winter.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Ridership for both groups peaked in August 2020 — about </a:t>
            </a:r>
            <a:r>
              <a:rPr lang="en-US" b="1" dirty="0"/>
              <a:t>289K casual rides</a:t>
            </a:r>
            <a:r>
              <a:rPr lang="en-US" dirty="0"/>
              <a:t> and </a:t>
            </a:r>
            <a:r>
              <a:rPr lang="en-US" b="1" dirty="0"/>
              <a:t>331K member rides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Members recorded more rides than casual riders in every month, while both groups reached their lowest levels in </a:t>
            </a:r>
            <a:r>
              <a:rPr lang="en-US" b="1" dirty="0"/>
              <a:t>February 2021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89BC94-AF37-9A22-A33A-35650D40E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8529"/>
            <a:ext cx="7031709" cy="447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059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4A986-84C5-33E1-1BC4-9436620F5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6987"/>
          </a:xfrm>
        </p:spPr>
        <p:txBody>
          <a:bodyPr/>
          <a:lstStyle/>
          <a:p>
            <a:r>
              <a:rPr lang="en-US" dirty="0"/>
              <a:t>Rides by Hour and Rider Type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6DEEDA-B0F1-18D6-47AD-4A3F9EC1A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4776"/>
            <a:ext cx="6915326" cy="44016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CD2CEB-BEFC-E0CB-36C6-1218B8EA92B9}"/>
              </a:ext>
            </a:extLst>
          </p:cNvPr>
          <p:cNvSpPr txBox="1"/>
          <p:nvPr/>
        </p:nvSpPr>
        <p:spPr>
          <a:xfrm>
            <a:off x="7968383" y="1904776"/>
            <a:ext cx="40406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Member rides show a pronounced late-afternoon peak, reaching their highest level around </a:t>
            </a:r>
            <a:r>
              <a:rPr lang="en-US" b="1" dirty="0"/>
              <a:t>5 PM (17)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Casual rides increase more gradually throughout the day, </a:t>
            </a:r>
            <a:r>
              <a:rPr lang="en-US" b="1" dirty="0"/>
              <a:t>peaking around 5 PM</a:t>
            </a:r>
            <a:r>
              <a:rPr lang="en-US" dirty="0"/>
              <a:t>, but at a much lower level than member rides.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Member rides show a noticeable </a:t>
            </a:r>
            <a:r>
              <a:rPr lang="en-US" b="1" dirty="0"/>
              <a:t>morning peak around 7–8 AM</a:t>
            </a:r>
            <a:r>
              <a:rPr lang="en-US" dirty="0"/>
              <a:t>, while casual ridership remains much lower during those hours.</a:t>
            </a:r>
          </a:p>
        </p:txBody>
      </p:sp>
    </p:spTree>
    <p:extLst>
      <p:ext uri="{BB962C8B-B14F-4D97-AF65-F5344CB8AC3E}">
        <p14:creationId xmlns:p14="http://schemas.microsoft.com/office/powerpoint/2010/main" val="55661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D91A0-5334-4F6E-9137-FB426B53F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8884"/>
          </a:xfrm>
        </p:spPr>
        <p:txBody>
          <a:bodyPr/>
          <a:lstStyle/>
          <a:p>
            <a:r>
              <a:rPr lang="en-US" dirty="0"/>
              <a:t>Rides by Bike Type and Rider Type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143849-5E3D-8A10-1EFF-615BF3C53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38865"/>
            <a:ext cx="6821146" cy="43417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752885-310F-5F7C-E383-0CB4C1902932}"/>
              </a:ext>
            </a:extLst>
          </p:cNvPr>
          <p:cNvSpPr txBox="1"/>
          <p:nvPr/>
        </p:nvSpPr>
        <p:spPr>
          <a:xfrm>
            <a:off x="8204886" y="2038865"/>
            <a:ext cx="373174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Docked bikes dominate ridership for both groups, accounting for about </a:t>
            </a:r>
            <a:r>
              <a:rPr lang="en-US" b="1" dirty="0"/>
              <a:t>1.11M casual rides </a:t>
            </a:r>
            <a:r>
              <a:rPr lang="en-US" dirty="0"/>
              <a:t>and</a:t>
            </a:r>
            <a:r>
              <a:rPr lang="en-US" b="1" dirty="0"/>
              <a:t> 1.43M member rides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Members recorded more rides across every bike type, with the largest numerical difference occurring for docked bikes.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Electric bikes are the second-most-used bike type for both groups, while classic bikes account for the fewest rides.</a:t>
            </a:r>
          </a:p>
        </p:txBody>
      </p:sp>
    </p:spTree>
    <p:extLst>
      <p:ext uri="{BB962C8B-B14F-4D97-AF65-F5344CB8AC3E}">
        <p14:creationId xmlns:p14="http://schemas.microsoft.com/office/powerpoint/2010/main" val="3999624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99218-2155-AAAE-4F9B-AD323493A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3433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2795CF-CE62-B07B-2EEE-6D51CEE8071C}"/>
              </a:ext>
            </a:extLst>
          </p:cNvPr>
          <p:cNvSpPr txBox="1"/>
          <p:nvPr/>
        </p:nvSpPr>
        <p:spPr>
          <a:xfrm>
            <a:off x="838200" y="1616149"/>
            <a:ext cx="109107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Members ride more frequently overall</a:t>
            </a:r>
            <a:r>
              <a:rPr lang="en-US" dirty="0"/>
              <a:t>, completing about </a:t>
            </a:r>
            <a:r>
              <a:rPr lang="en-US" b="1" dirty="0"/>
              <a:t>44% more rides</a:t>
            </a:r>
            <a:r>
              <a:rPr lang="en-US" dirty="0"/>
              <a:t> than casual riders.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Casual riders take much longer trips</a:t>
            </a:r>
            <a:r>
              <a:rPr lang="en-US" dirty="0"/>
              <a:t>, averaging </a:t>
            </a:r>
            <a:r>
              <a:rPr lang="en-US" b="1" dirty="0"/>
              <a:t>45.0 minutes</a:t>
            </a:r>
            <a:r>
              <a:rPr lang="en-US" dirty="0"/>
              <a:t> compared with </a:t>
            </a:r>
            <a:r>
              <a:rPr lang="en-US" b="1" dirty="0"/>
              <a:t>16.1 minutes</a:t>
            </a:r>
            <a:r>
              <a:rPr lang="en-US" dirty="0"/>
              <a:t> for members.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Casual riding is more leisure-oriented</a:t>
            </a:r>
            <a:r>
              <a:rPr lang="en-US" dirty="0"/>
              <a:t>, with much stronger weekend activity, while member riding is stronger during weekdays and commuting hours.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Both groups are highly seasonal</a:t>
            </a:r>
            <a:r>
              <a:rPr lang="en-US" dirty="0"/>
              <a:t>, with ridership strongest in the warmer months and substantially lower during winter.</a:t>
            </a:r>
          </a:p>
        </p:txBody>
      </p:sp>
    </p:spTree>
    <p:extLst>
      <p:ext uri="{BB962C8B-B14F-4D97-AF65-F5344CB8AC3E}">
        <p14:creationId xmlns:p14="http://schemas.microsoft.com/office/powerpoint/2010/main" val="1495789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1F00F-2E01-C7C1-CD66-32952A123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8884"/>
          </a:xfrm>
        </p:spPr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27D06A-B991-D77A-B20A-3A4DE3568FA6}"/>
              </a:ext>
            </a:extLst>
          </p:cNvPr>
          <p:cNvSpPr txBox="1"/>
          <p:nvPr/>
        </p:nvSpPr>
        <p:spPr>
          <a:xfrm>
            <a:off x="935665" y="1754372"/>
            <a:ext cx="104092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Target casual riders during weekends and warmer months.</a:t>
            </a:r>
            <a:r>
              <a:rPr lang="en-US" dirty="0"/>
              <a:t> Run membership campaigns when casual ridership is highest, especially on Saturdays and during spring and summer.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Promote membership around the value of frequent riding.</a:t>
            </a:r>
            <a:r>
              <a:rPr lang="en-US" dirty="0"/>
              <a:t> Use targeted offers to show casual riders how an annual membership could benefit them if they begin using Cyclistic more regularly.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Encourage casual riders to use Cyclistic beyond recreation.</a:t>
            </a:r>
            <a:r>
              <a:rPr lang="en-US" dirty="0"/>
              <a:t> Promote membership for weekday and commuting use, emphasizing Cyclistic as an option for routine transportation rather than only leisure trips.</a:t>
            </a:r>
          </a:p>
        </p:txBody>
      </p:sp>
    </p:spTree>
    <p:extLst>
      <p:ext uri="{BB962C8B-B14F-4D97-AF65-F5344CB8AC3E}">
        <p14:creationId xmlns:p14="http://schemas.microsoft.com/office/powerpoint/2010/main" val="802252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601</Words>
  <Application>Microsoft Macintosh PowerPoint</Application>
  <PresentationFormat>Widescreen</PresentationFormat>
  <Paragraphs>56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Cyclistic Bike-Share Analysis</vt:lpstr>
      <vt:lpstr>Business Task</vt:lpstr>
      <vt:lpstr>Data and Methodology</vt:lpstr>
      <vt:lpstr>Total Rides by Rider Type</vt:lpstr>
      <vt:lpstr>Average Ride Length by Rider Type</vt:lpstr>
      <vt:lpstr>Rides by Day of Week and Rider Type</vt:lpstr>
      <vt:lpstr>Monthly Rides by Rider Type</vt:lpstr>
      <vt:lpstr>Rides by Hour and Rider Type</vt:lpstr>
      <vt:lpstr>Rides by Bike Type and Rider Type</vt:lpstr>
      <vt:lpstr>Key Findings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Mamadou Jawo</dc:creator>
  <cp:lastModifiedBy>Mamadou Jawo</cp:lastModifiedBy>
  <cp:revision>2</cp:revision>
  <dcterms:created xsi:type="dcterms:W3CDTF">2026-09-01T17:31:22Z</dcterms:created>
  <dcterms:modified xsi:type="dcterms:W3CDTF">2026-09-01T20:40:24Z</dcterms:modified>
</cp:coreProperties>
</file>